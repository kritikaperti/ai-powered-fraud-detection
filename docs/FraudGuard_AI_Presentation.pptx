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FINANCIAL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t>FraudGuard AI</a:t>
            </a:r>
          </a:p>
          <a:p>
            <a:pPr>
              <a:spcBef>
                <a:spcPts val="800"/>
              </a:spcBef>
              <a:defRPr sz="2200">
                <a:solidFill>
                  <a:srgbClr val="38BDF8"/>
                </a:solidFill>
                <a:latin typeface="Segoe UI"/>
              </a:defRPr>
            </a:pPr>
            <a:r>
              <a:t>AI-Powered Real-Time Fraud Detection &amp; Compliance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🛡️ Real-time transactional risk scoring (0-100) with sub-second latency.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⚡ Multi-vector anomaly heuristics: amount velocity, cross-border locations, channel deviations.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🗄️ Production full-stack architecture: Spring Boot 4.1 + MySQL 8.0 + Modern Web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Author: Kritika Perti  |  Date: October 2026  |  GitHub: kritikaperti/AI-POWERED-FRAUD-DETECTION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Problem Statement &amp;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Modern digital payments require sub-second transaction evaluation without customer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Financial Risk Surge:</a:t>
            </a:r>
            <a:r>
              <a:t> High volume of automated online fraud, chargebacks, and account takeovers requires real-time interception.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Legacy Bottlenecks:</a:t>
            </a:r>
            <a:r>
              <a:t> Traditional batch fraud analysis is too slow and lacks actionable explainability.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FraudGuard Solution:</a:t>
            </a:r>
            <a:r>
              <a:t> Combines deterministic thresholds with probabilistic risk scoring (0 to 100).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Transparency by Design:</a:t>
            </a:r>
            <a:r>
              <a:t> Delivers clear natural-language justifications for every flagged or blocked payment.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Dual Operation Mode:</a:t>
            </a:r>
            <a:r>
              <a:t> Connected live Spring Boot REST API mode + offline client-side fallback simulation.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1: FraudGuard Landing Page with Real-Time Security Health Meter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End-to-End Multi-Tier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Clean separation of presentation, security services, intelligence engine, and relational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PRESENTATION TIER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Modern Web UI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HTML5 • CSS3 • JavaScript (ES6+)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Responsive fintech user experience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SVG dynamic risk gauges and meters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Instant transaction testing interface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Searchable historical ledgers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Automatic localStorage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SERVICE &amp; API TIER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Spring Boot 4.1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Java 26 • Spring Security 6 • JWT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Stateless REST controllers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BCrypt salt-hashed credentials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Role-Based Access Control (RBAC)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Heuristic Fraud Scoring Engine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Tomcat web container on port 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05740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PERSISTENCE TIER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MySQL 8.0 Database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JPA / Hibernate 7.4 • InnoDB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ACID compliant transactional storage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Relational schema: users, txns, cases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1:1 foreign keys for investigations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Automatic Hibernate schema updates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Pre-seeded with admin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DEVELOPMENT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Key Accomplishments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Major development goals accomplished across hosting, bug fixes, packaging, and version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Full Local Server Hosting:</a:t>
            </a:r>
            <a:r>
              <a:t> Spring Boot web server running live on port 8080 serving all frontend views and REST endpoints.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Form Submission Bug Fix:</a:t>
            </a:r>
            <a:r>
              <a:t> Corrected form submission event handlers in transaction.html to properly trigger AI analysis.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Production Executable JAR:</a:t>
            </a:r>
            <a:r>
              <a:t> Built and packaged self-contained fraud-detection-0.0.1-SNAPSHOT.jar with embedded Tomcat.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One-Click Windows Launcher:</a:t>
            </a:r>
            <a:r>
              <a:t> Created run-website.bat allowing instant execution without command line dependencies.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Full Engineering Documentation:</a:t>
            </a:r>
            <a:r>
              <a:t> Produced Architecture specs, API schemas, DB dictionary, and Deployment guides in docs/.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GitHub Repository Live:</a:t>
            </a:r>
            <a:r>
              <a:t> Initialized Git repository, cleanly filtered build artifacts, and published to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32804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2: User Dashboard with Personal Security Health and Action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USER EXPERIENCE (UI/UX)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Real-Time AI Fraud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Interactive scanning interface evaluating payment parameters and returning immediate risk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Interactive Input Form:</a:t>
            </a:r>
            <a:r>
              <a:t> Users enter transaction ID, amount, channel (Payment/Transfer/Withdrawal), location, and recipient.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Real-Time Evaluation:</a:t>
            </a:r>
            <a:r>
              <a:t> Evaluates transaction against heuristics and returns risk classification in sub-second time.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Visual Risk Progress Bar:</a:t>
            </a:r>
            <a:r>
              <a:t> Color-coded progress bar visually mapping the computed risk score (0 to 100).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Clear Natural-Language Rationale:</a:t>
            </a:r>
            <a:r>
              <a:t> Explains specific trigger reasons (e.g. 'High amount &gt;= 50,000; Location anomaly').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Instant Ledger Sync:</a:t>
            </a:r>
            <a:r>
              <a:t> Scanned transactions are automatically persisted to MySQL and appended to transaction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aud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32804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3: AI Fraud Scanner Testing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AUDIT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Historical Transaction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Transparent, searchable audit trail providing users with complete transaction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Historical Transaction Table:</a:t>
            </a:r>
            <a:r>
              <a:t> Lists transaction ID, timestamp, merchant, transfer channel, and monetary value.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Status Tagging:</a:t>
            </a:r>
            <a:r>
              <a:t> Color-coded tags distinguishing SAFE (green), SUSPICIOUS (yellow), and BLOCKED (red) events.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Search &amp; Filter:</a:t>
            </a:r>
            <a:r>
              <a:t> Allows instant searching by recipient name, transaction ID, or status type.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Dual Database Sync:</a:t>
            </a:r>
            <a:r>
              <a:t> Automatically syncs with MySQL backend or falls back seamlessly to localStorage.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Tamper-Evident Logs:</a:t>
            </a:r>
            <a:r>
              <a:t> Transaction records link directly to security case files for administrative oversight.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32804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4: User Transaction History &amp; Risk Score Audit Ledger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ADMINISTRATION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Executive Dashboard &amp; Alert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Centralized surveillance console designed for risk managers and compliance officers.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Global KPI Cards:</a:t>
            </a:r>
            <a:r>
              <a:t> Live metrics displaying Total Monitored Transactions, Safe Rates (96%), and Flagged Cases.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Active Risk Overview:</a:t>
            </a:r>
            <a:r>
              <a:t> Visual donut breakdown representing current threat distribution across user accounts.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Detection Engine Status:</a:t>
            </a:r>
            <a:r>
              <a:t> Real-time telemetry monitoring rule engine status and risk scoring uptime.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Suspicious Alert Queue:</a:t>
            </a:r>
            <a:r>
              <a:t> Dedicated workflow allowing compliance officers to triage and resolve investigations.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Role-Based Access Control:</a:t>
            </a:r>
            <a:r>
              <a:t> Admin routes protected by Spring Security (requires ROLE_ADMIN authorization).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32804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5: Administrator Executive Overview &amp; Threat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SURVEILLANCE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Live Monitoring &amp; Risk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Continuous surveillance of bank-wide transaction streams with advanced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Live Transaction Feed:</a:t>
            </a:r>
            <a:r>
              <a:t> Displays all processed transactions across every registered account.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Risk Score Filtering:</a:t>
            </a:r>
            <a:r>
              <a:t> Instantly isolates high-risk outliers (score &gt;= 70) for immediate intervention.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Loss Prevention Reports:</a:t>
            </a:r>
            <a:r>
              <a:t> Quantitative reports on financial capital saved through automated payment blocks.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User Role Management:</a:t>
            </a:r>
            <a:r>
              <a:t> Admin UI for reviewing registered accounts and modifying roles (USER to ADMIN).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Actionable Audit Logs:</a:t>
            </a:r>
            <a:r>
              <a:t> Immutable log records for regulatory reporting and forensic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32804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6: Bank-Wide Live Transaction Monitoring 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PERSISTENCE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MySQL Relational Database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Normalized relational database (`frauddb`) managed automatically via Spring Data JPA and Hibernate.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`users` Table:</a:t>
            </a:r>
            <a:r>
              <a:t> User profiles, security roles (ADMIN/USER), and 60-character BCrypt password hashes.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`transactions` Table:</a:t>
            </a:r>
            <a:r>
              <a:t> Transaction ledger storing amount, recipient, channel, location, timestamp, and risk score.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`fraud_cases` Table:</a:t>
            </a:r>
            <a:r>
              <a:t> Linked 1:1 with transactions for suspicious alerts; stores investigation notes and resolution statuses.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Referential Integrity:</a:t>
            </a:r>
            <a:r>
              <a:t> Foreign keys ensure transactions map accurately to registered users and case records.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b="1">
                <a:solidFill>
                  <a:srgbClr val="F8FAFC"/>
                </a:solidFill>
              </a:rPr>
              <a:t>Real Database Verification:</a:t>
            </a:r>
            <a:r>
              <a:t> Verified live rows across all tables in MySQL 8.0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03520" cy="4572000"/>
          </a:xfrm>
          <a:prstGeom prst="roundRect">
            <a:avLst/>
          </a:prstGeom>
          <a:solidFill>
            <a:srgbClr val="05081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b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4200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989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Figure 7: MySQL Database Live Inspector (users, transactions, fraud_cases)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FRAUD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Fraud Detection Heuristics &amp; 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Weighted multi-factor anomaly calculation evaluating risk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Risk Factor Scoring Weights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F8FAFC"/>
                </a:solidFill>
              </a:rPr>
              <a:t>Base Transaction Score </a:t>
            </a:r>
            <a:r>
              <a:rPr b="1">
                <a:solidFill>
                  <a:srgbClr val="F59E0B"/>
                </a:solidFill>
              </a:rPr>
              <a:t>[10 Points]: </a:t>
            </a:r>
            <a:r>
              <a:rPr>
                <a:solidFill>
                  <a:srgbClr val="94A3B8"/>
                </a:solidFill>
              </a:rPr>
              <a:t>Base floor for all processed payments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F8FAFC"/>
                </a:solidFill>
              </a:rPr>
              <a:t>Critical Amount (&gt;= ₹40,000) </a:t>
            </a:r>
            <a:r>
              <a:rPr b="1">
                <a:solidFill>
                  <a:srgbClr val="F59E0B"/>
                </a:solidFill>
              </a:rPr>
              <a:t>[+60 Points]: </a:t>
            </a:r>
            <a:r>
              <a:rPr>
                <a:solidFill>
                  <a:srgbClr val="94A3B8"/>
                </a:solidFill>
              </a:rPr>
              <a:t>High monetary value triggers immediate warning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F8FAFC"/>
                </a:solidFill>
              </a:rPr>
              <a:t>Moderate Amount (&gt;= ₹15,000) </a:t>
            </a:r>
            <a:r>
              <a:rPr b="1">
                <a:solidFill>
                  <a:srgbClr val="F59E0B"/>
                </a:solidFill>
              </a:rPr>
              <a:t>[+25 Points]: </a:t>
            </a:r>
            <a:r>
              <a:rPr>
                <a:solidFill>
                  <a:srgbClr val="94A3B8"/>
                </a:solidFill>
              </a:rPr>
              <a:t>Above-average payment threshold addition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F8FAFC"/>
                </a:solidFill>
              </a:rPr>
              <a:t>Unknown / New Location </a:t>
            </a:r>
            <a:r>
              <a:rPr b="1">
                <a:solidFill>
                  <a:srgbClr val="F59E0B"/>
                </a:solidFill>
              </a:rPr>
              <a:t>[+30 Points]: </a:t>
            </a:r>
            <a:r>
              <a:rPr>
                <a:solidFill>
                  <a:srgbClr val="94A3B8"/>
                </a:solidFill>
              </a:rPr>
              <a:t>Geographical deviation or missing origin coordinates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F8FAFC"/>
                </a:solidFill>
              </a:rPr>
              <a:t>High-Risk Transfer (&gt;= ₹15k) </a:t>
            </a:r>
            <a:r>
              <a:rPr b="1">
                <a:solidFill>
                  <a:srgbClr val="F59E0B"/>
                </a:solidFill>
              </a:rPr>
              <a:t>[+20 Points]: </a:t>
            </a:r>
            <a:r>
              <a:rPr>
                <a:solidFill>
                  <a:srgbClr val="94A3B8"/>
                </a:solidFill>
              </a:rPr>
              <a:t>Peer-to-peer or outbound high-value transfer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F8FAFC"/>
                </a:solidFill>
              </a:rPr>
              <a:t>Large Cash Withdrawal (&gt;= ₹20k) </a:t>
            </a:r>
            <a:r>
              <a:rPr b="1">
                <a:solidFill>
                  <a:srgbClr val="F59E0B"/>
                </a:solidFill>
              </a:rPr>
              <a:t>[+15 Points]: </a:t>
            </a:r>
            <a:r>
              <a:rPr>
                <a:solidFill>
                  <a:srgbClr val="94A3B8"/>
                </a:solidFill>
              </a:rPr>
              <a:t>Elevated ATM / liquid cash withdrawal velocity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Risk Thresholds &amp; Actions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2C55E"/>
                </a:solidFill>
              </a:rPr>
              <a:t>SAFE / APPROVED
</a:t>
            </a:r>
            <a:r>
              <a:rPr b="1" sz="1200">
                <a:solidFill>
                  <a:srgbClr val="F8FAFC"/>
                </a:solidFill>
              </a:rPr>
              <a:t>Score: 0 – 39
</a:t>
            </a:r>
            <a:r>
              <a:rPr sz="1100">
                <a:solidFill>
                  <a:srgbClr val="94A3B8"/>
                </a:solidFill>
              </a:rPr>
              <a:t>Transaction is verified safe. No anomalous deviation detected. Payment approved instantly.
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9E0B"/>
                </a:solidFill>
              </a:rPr>
              <a:t>SUSPICIOUS / FLAGGED
</a:t>
            </a:r>
            <a:r>
              <a:rPr b="1" sz="1200">
                <a:solidFill>
                  <a:srgbClr val="F8FAFC"/>
                </a:solidFill>
              </a:rPr>
              <a:t>Score: 40 – 69
</a:t>
            </a:r>
            <a:r>
              <a:rPr sz="1100">
                <a:solidFill>
                  <a:srgbClr val="94A3B8"/>
                </a:solidFill>
              </a:rPr>
              <a:t>Transaction exhibits unusual patterns. Flagged for review; secondary 2FA verification recommended.
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F4444"/>
                </a:solidFill>
              </a:rPr>
              <a:t>HIGH RISK / BLOCKED
</a:t>
            </a:r>
            <a:r>
              <a:rPr b="1" sz="1200">
                <a:solidFill>
                  <a:srgbClr val="F8FAFC"/>
                </a:solidFill>
              </a:rPr>
              <a:t>Score: 70 – 100
</a:t>
            </a:r>
            <a:r>
              <a:rPr sz="1100">
                <a:solidFill>
                  <a:srgbClr val="94A3B8"/>
                </a:solidFill>
              </a:rPr>
              <a:t>Severe fraud probability detected. Transaction automatically blocked, and investigative record opened in fraud_cases.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Future Architecture &amp;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Planned feature iterations to scale FraudGuard AI into high-throughput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Machine Learning Pipeline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Integrate trained Python ensemble models (Random Forest, XGBoost, LightGBM) serialized into ONNX for high-speed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468880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Explainability (SHAP)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Incorporate SHAP waterfall charts directly in the administrative case view to show individual feature contributions to risk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468880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Kafka Stream Ingestion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Decouple synchronous HTTP calls with Apache Kafka event streaming to ingest and score 10,000+ transactions per second.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28800"/>
            <a:ext cx="2468880" cy="438912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0116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Segoe UI"/>
              </a:defRPr>
            </a:pPr>
            <a:r>
              <a:t>04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Cloud CI/CD &amp; Deploy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Automate GitHub Actions pipelines for Docker containerization and one-click cloud hosting on Railway / Render / AWS ECS.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spcAft>
                <a:spcPts val="25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FraudGuard AI — Protecting Every Financial Transaction</a:t>
            </a:r>
          </a:p>
          <a:p>
            <a:pPr>
              <a:lnSpc>
                <a:spcPct val="140000"/>
              </a:lnSpc>
              <a:spcAft>
                <a:spcPts val="25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Project Summary Highlights:</a:t>
            </a:r>
            <a:br/>
            <a:r>
              <a:t>• Live Full-Stack Architecture running on Spring Boot 4 &amp; MySQL 8.</a:t>
            </a:r>
            <a:br/>
            <a:r>
              <a:t>• Real-Time Threat Evaluation with Multi-Vector Scoring (0-100).</a:t>
            </a:r>
            <a:br/>
            <a:r>
              <a:t>• Comprehensive UI/UX with User &amp; Administrative Surveillance Consoles.</a:t>
            </a:r>
            <a:br/>
            <a:r>
              <a:t>• Complete Technical Documentation and Version Controlled on GitHub.</a:t>
            </a:r>
          </a:p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GitHub Repository: https://github.com/kritikaperti/AI-POWERED-FRAUD-DETECTION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